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D30"/>
        </a:solidFill>
        <a:effectLst/>
      </p:bgPr>
    </p:bg>
    <p:spTree>
      <p:nvGrpSpPr>
        <p:cNvPr id="1" name=""/>
        <p:cNvGrpSpPr/>
        <p:nvPr/>
      </p:nvGrpSpPr>
      <p:grpSpPr/>
      <p:sp>
        <p:nvSpPr>
          <p:cNvPr id="2" name="TextBox 1"/>
          <p:cNvSpPr txBox="1"/>
          <p:nvPr/>
        </p:nvSpPr>
        <p:spPr>
          <a:xfrm>
            <a:off x="685800" y="502920"/>
            <a:ext cx="10698480" cy="822960"/>
          </a:xfrm>
          <a:prstGeom prst="rect">
            <a:avLst/>
          </a:prstGeom>
          <a:noFill/>
        </p:spPr>
        <p:txBody>
          <a:bodyPr wrap="none">
            <a:spAutoFit/>
          </a:bodyPr>
          <a:lstStyle/>
          <a:p>
            <a:pPr>
              <a:defRPr sz="3100" b="1">
                <a:solidFill>
                  <a:srgbClr val="63D2E3"/>
                </a:solidFill>
              </a:defRPr>
            </a:pPr>
            <a:r>
              <a:t>PHP2Shell 2026 | Case Study 002</a:t>
            </a:r>
          </a:p>
        </p:txBody>
      </p:sp>
      <p:sp>
        <p:nvSpPr>
          <p:cNvPr id="3" name="TextBox 2"/>
          <p:cNvSpPr txBox="1"/>
          <p:nvPr/>
        </p:nvSpPr>
        <p:spPr>
          <a:xfrm>
            <a:off x="731520" y="1645920"/>
            <a:ext cx="10515600" cy="4114800"/>
          </a:xfrm>
          <a:prstGeom prst="rect">
            <a:avLst/>
          </a:prstGeom>
          <a:noFill/>
        </p:spPr>
        <p:txBody>
          <a:bodyPr wrap="square">
            <a:spAutoFit/>
          </a:bodyPr>
          <a:lstStyle/>
          <a:p>
            <a:pPr>
              <a:defRPr sz="2100">
                <a:solidFill>
                  <a:srgbClr val="EEF4FA"/>
                </a:solidFill>
              </a:defRPr>
            </a:pPr>
            <a:r>
              <a:t>Public research edition — 23 October 2026</a:t>
            </a:r>
            <a:br/>
            <a:r>
              <a:t>Reproducible offline benchmark + independently attributed incident facts</a:t>
            </a:r>
            <a:br/>
            <a:r>
              <a:t>No live exploit, AI model, or OpenVals execution.</a:t>
            </a:r>
          </a:p>
        </p:txBody>
      </p:sp>
      <p:sp>
        <p:nvSpPr>
          <p:cNvPr id="4" name="TextBox 3"/>
          <p:cNvSpPr txBox="1"/>
          <p:nvPr/>
        </p:nvSpPr>
        <p:spPr>
          <a:xfrm>
            <a:off x="731520" y="6400800"/>
            <a:ext cx="10607040" cy="274320"/>
          </a:xfrm>
          <a:prstGeom prst="rect">
            <a:avLst/>
          </a:prstGeom>
          <a:noFill/>
        </p:spPr>
        <p:txBody>
          <a:bodyPr wrap="none">
            <a:spAutoFit/>
          </a:bodyPr>
          <a:lstStyle/>
          <a:p>
            <a:pPr>
              <a:defRPr sz="1100">
                <a:solidFill>
                  <a:srgbClr val="92AAC0"/>
                </a:solidFill>
              </a:defRPr>
            </a:pPr>
            <a:r>
              <a:t>OPENVALS × REDSHIELD  |  CASE STUDY 002  |  SYNTHETIC / RULE-BASED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D30"/>
        </a:solidFill>
        <a:effectLst/>
      </p:bgPr>
    </p:bg>
    <p:spTree>
      <p:nvGrpSpPr>
        <p:cNvPr id="1" name=""/>
        <p:cNvGrpSpPr/>
        <p:nvPr/>
      </p:nvGrpSpPr>
      <p:grpSpPr/>
      <p:sp>
        <p:nvSpPr>
          <p:cNvPr id="2" name="TextBox 1"/>
          <p:cNvSpPr txBox="1"/>
          <p:nvPr/>
        </p:nvSpPr>
        <p:spPr>
          <a:xfrm>
            <a:off x="685800" y="502920"/>
            <a:ext cx="10698480" cy="822960"/>
          </a:xfrm>
          <a:prstGeom prst="rect">
            <a:avLst/>
          </a:prstGeom>
          <a:noFill/>
        </p:spPr>
        <p:txBody>
          <a:bodyPr wrap="none">
            <a:spAutoFit/>
          </a:bodyPr>
          <a:lstStyle/>
          <a:p>
            <a:pPr>
              <a:defRPr sz="3100" b="1">
                <a:solidFill>
                  <a:srgbClr val="63D2E3"/>
                </a:solidFill>
              </a:defRPr>
            </a:pPr>
            <a:r>
              <a:t>Executive summary</a:t>
            </a:r>
          </a:p>
        </p:txBody>
      </p:sp>
      <p:sp>
        <p:nvSpPr>
          <p:cNvPr id="3" name="TextBox 2"/>
          <p:cNvSpPr txBox="1"/>
          <p:nvPr/>
        </p:nvSpPr>
        <p:spPr>
          <a:xfrm>
            <a:off x="731520" y="1645920"/>
            <a:ext cx="10515600" cy="4114800"/>
          </a:xfrm>
          <a:prstGeom prst="rect">
            <a:avLst/>
          </a:prstGeom>
          <a:noFill/>
        </p:spPr>
        <p:txBody>
          <a:bodyPr wrap="square">
            <a:spAutoFit/>
          </a:bodyPr>
          <a:lstStyle/>
          <a:p>
            <a:pPr>
              <a:defRPr sz="2100">
                <a:solidFill>
                  <a:srgbClr val="EEF4FA"/>
                </a:solidFill>
              </a:defRPr>
            </a:pPr>
            <a:r>
              <a:t>PHP2Shell comprises CVE-2026-109618 and CVE-2026-109619, two PHP runtime memory-safety issues publicly disclosed on 21 October 2026. This case study combines verified public incident evidence with an explicitly synthetic, reproducible triage benchmark. It does NOT demonstrate that OpenVals or RedShield detected, exploited, prevented or remediated PHP2Shell.</a:t>
            </a:r>
          </a:p>
        </p:txBody>
      </p:sp>
      <p:sp>
        <p:nvSpPr>
          <p:cNvPr id="4" name="TextBox 3"/>
          <p:cNvSpPr txBox="1"/>
          <p:nvPr/>
        </p:nvSpPr>
        <p:spPr>
          <a:xfrm>
            <a:off x="731520" y="6400800"/>
            <a:ext cx="10607040" cy="274320"/>
          </a:xfrm>
          <a:prstGeom prst="rect">
            <a:avLst/>
          </a:prstGeom>
          <a:noFill/>
        </p:spPr>
        <p:txBody>
          <a:bodyPr wrap="none">
            <a:spAutoFit/>
          </a:bodyPr>
          <a:lstStyle/>
          <a:p>
            <a:pPr>
              <a:defRPr sz="1100">
                <a:solidFill>
                  <a:srgbClr val="92AAC0"/>
                </a:solidFill>
              </a:defRPr>
            </a:pPr>
            <a:r>
              <a:t>OPENVALS × REDSHIELD  |  CASE STUDY 002  |  SYNTHETIC / RULE-BASED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D30"/>
        </a:solidFill>
        <a:effectLst/>
      </p:bgPr>
    </p:bg>
    <p:spTree>
      <p:nvGrpSpPr>
        <p:cNvPr id="1" name=""/>
        <p:cNvGrpSpPr/>
        <p:nvPr/>
      </p:nvGrpSpPr>
      <p:grpSpPr/>
      <p:sp>
        <p:nvSpPr>
          <p:cNvPr id="2" name="TextBox 1"/>
          <p:cNvSpPr txBox="1"/>
          <p:nvPr/>
        </p:nvSpPr>
        <p:spPr>
          <a:xfrm>
            <a:off x="685800" y="502920"/>
            <a:ext cx="10698480" cy="822960"/>
          </a:xfrm>
          <a:prstGeom prst="rect">
            <a:avLst/>
          </a:prstGeom>
          <a:noFill/>
        </p:spPr>
        <p:txBody>
          <a:bodyPr wrap="none">
            <a:spAutoFit/>
          </a:bodyPr>
          <a:lstStyle/>
          <a:p>
            <a:pPr>
              <a:defRPr sz="3100" b="1">
                <a:solidFill>
                  <a:srgbClr val="63D2E3"/>
                </a:solidFill>
              </a:defRPr>
            </a:pPr>
            <a:r>
              <a:t>Research question</a:t>
            </a:r>
          </a:p>
        </p:txBody>
      </p:sp>
      <p:sp>
        <p:nvSpPr>
          <p:cNvPr id="3" name="TextBox 2"/>
          <p:cNvSpPr txBox="1"/>
          <p:nvPr/>
        </p:nvSpPr>
        <p:spPr>
          <a:xfrm>
            <a:off x="731520" y="1645920"/>
            <a:ext cx="10515600" cy="4114800"/>
          </a:xfrm>
          <a:prstGeom prst="rect">
            <a:avLst/>
          </a:prstGeom>
          <a:noFill/>
        </p:spPr>
        <p:txBody>
          <a:bodyPr wrap="square">
            <a:spAutoFit/>
          </a:bodyPr>
          <a:lstStyle/>
          <a:p>
            <a:pPr>
              <a:defRPr sz="2100">
                <a:solidFill>
                  <a:srgbClr val="EEF4FA"/>
                </a:solidFill>
              </a:defRPr>
            </a:pPr>
            <a:r>
              <a:t>How can enterprises independently validate the reliability, accuracy, security and operational effectiveness of AI systems used for vulnerability discovery, threat detection and remediation? Answer: use independent ground truth, deployment-aware test sets, blinded adjudication, deterministic checks for machine-verifiable claims, calibration, regression testing, and human approval for risky actions.</a:t>
            </a:r>
          </a:p>
        </p:txBody>
      </p:sp>
      <p:sp>
        <p:nvSpPr>
          <p:cNvPr id="4" name="TextBox 3"/>
          <p:cNvSpPr txBox="1"/>
          <p:nvPr/>
        </p:nvSpPr>
        <p:spPr>
          <a:xfrm>
            <a:off x="731520" y="6400800"/>
            <a:ext cx="10607040" cy="274320"/>
          </a:xfrm>
          <a:prstGeom prst="rect">
            <a:avLst/>
          </a:prstGeom>
          <a:noFill/>
        </p:spPr>
        <p:txBody>
          <a:bodyPr wrap="none">
            <a:spAutoFit/>
          </a:bodyPr>
          <a:lstStyle/>
          <a:p>
            <a:pPr>
              <a:defRPr sz="1100">
                <a:solidFill>
                  <a:srgbClr val="92AAC0"/>
                </a:solidFill>
              </a:defRPr>
            </a:pPr>
            <a:r>
              <a:t>OPENVALS × REDSHIELD  |  CASE STUDY 002  |  SYNTHETIC / RULE-BASED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D30"/>
        </a:solidFill>
        <a:effectLst/>
      </p:bgPr>
    </p:bg>
    <p:spTree>
      <p:nvGrpSpPr>
        <p:cNvPr id="1" name=""/>
        <p:cNvGrpSpPr/>
        <p:nvPr/>
      </p:nvGrpSpPr>
      <p:grpSpPr/>
      <p:sp>
        <p:nvSpPr>
          <p:cNvPr id="2" name="TextBox 1"/>
          <p:cNvSpPr txBox="1"/>
          <p:nvPr/>
        </p:nvSpPr>
        <p:spPr>
          <a:xfrm>
            <a:off x="685800" y="502920"/>
            <a:ext cx="10698480" cy="822960"/>
          </a:xfrm>
          <a:prstGeom prst="rect">
            <a:avLst/>
          </a:prstGeom>
          <a:noFill/>
        </p:spPr>
        <p:txBody>
          <a:bodyPr wrap="none">
            <a:spAutoFit/>
          </a:bodyPr>
          <a:lstStyle/>
          <a:p>
            <a:pPr>
              <a:defRPr sz="3100" b="1">
                <a:solidFill>
                  <a:srgbClr val="63D2E3"/>
                </a:solidFill>
              </a:defRPr>
            </a:pPr>
            <a:r>
              <a:t>Verified incident facts</a:t>
            </a:r>
          </a:p>
        </p:txBody>
      </p:sp>
      <p:sp>
        <p:nvSpPr>
          <p:cNvPr id="3" name="TextBox 2"/>
          <p:cNvSpPr txBox="1"/>
          <p:nvPr/>
        </p:nvSpPr>
        <p:spPr>
          <a:xfrm>
            <a:off x="731520" y="1645920"/>
            <a:ext cx="10515600" cy="4114800"/>
          </a:xfrm>
          <a:prstGeom prst="rect">
            <a:avLst/>
          </a:prstGeom>
          <a:noFill/>
        </p:spPr>
        <p:txBody>
          <a:bodyPr wrap="square">
            <a:spAutoFit/>
          </a:bodyPr>
          <a:lstStyle/>
          <a:p>
            <a:pPr>
              <a:defRPr sz="2100">
                <a:solidFill>
                  <a:srgbClr val="EEF4FA"/>
                </a:solidFill>
              </a:defRPr>
            </a:pPr>
            <a:r>
              <a:t>The PHP project confirmed the two CVEs and released PHP 8.2.35, 8.3.36, 8.4.27 and 8.5.12 on 21 October 2026. It described out-of-memory corruption and stale global state. Wiz reported proof-of-concept exploitation on selected WordPress, Drupal and Joomla environments and described AI-assisted vulnerability research. Those are third-party research demonstrations, not tests performed by this project.</a:t>
            </a:r>
          </a:p>
        </p:txBody>
      </p:sp>
      <p:sp>
        <p:nvSpPr>
          <p:cNvPr id="4" name="TextBox 3"/>
          <p:cNvSpPr txBox="1"/>
          <p:nvPr/>
        </p:nvSpPr>
        <p:spPr>
          <a:xfrm>
            <a:off x="731520" y="6400800"/>
            <a:ext cx="10607040" cy="274320"/>
          </a:xfrm>
          <a:prstGeom prst="rect">
            <a:avLst/>
          </a:prstGeom>
          <a:noFill/>
        </p:spPr>
        <p:txBody>
          <a:bodyPr wrap="none">
            <a:spAutoFit/>
          </a:bodyPr>
          <a:lstStyle/>
          <a:p>
            <a:pPr>
              <a:defRPr sz="1100">
                <a:solidFill>
                  <a:srgbClr val="92AAC0"/>
                </a:solidFill>
              </a:defRPr>
            </a:pPr>
            <a:r>
              <a:t>OPENVALS × REDSHIELD  |  CASE STUDY 002  |  SYNTHETIC / RULE-BASED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D30"/>
        </a:solidFill>
        <a:effectLst/>
      </p:bgPr>
    </p:bg>
    <p:spTree>
      <p:nvGrpSpPr>
        <p:cNvPr id="1" name=""/>
        <p:cNvGrpSpPr/>
        <p:nvPr/>
      </p:nvGrpSpPr>
      <p:grpSpPr/>
      <p:sp>
        <p:nvSpPr>
          <p:cNvPr id="2" name="TextBox 1"/>
          <p:cNvSpPr txBox="1"/>
          <p:nvPr/>
        </p:nvSpPr>
        <p:spPr>
          <a:xfrm>
            <a:off x="685800" y="502920"/>
            <a:ext cx="10698480" cy="822960"/>
          </a:xfrm>
          <a:prstGeom prst="rect">
            <a:avLst/>
          </a:prstGeom>
          <a:noFill/>
        </p:spPr>
        <p:txBody>
          <a:bodyPr wrap="none">
            <a:spAutoFit/>
          </a:bodyPr>
          <a:lstStyle/>
          <a:p>
            <a:pPr>
              <a:defRPr sz="3100" b="1">
                <a:solidFill>
                  <a:srgbClr val="63D2E3"/>
                </a:solidFill>
              </a:defRPr>
            </a:pPr>
            <a:r>
              <a:t>What we actually executed</a:t>
            </a:r>
          </a:p>
        </p:txBody>
      </p:sp>
      <p:sp>
        <p:nvSpPr>
          <p:cNvPr id="3" name="TextBox 2"/>
          <p:cNvSpPr txBox="1"/>
          <p:nvPr/>
        </p:nvSpPr>
        <p:spPr>
          <a:xfrm>
            <a:off x="731520" y="1645920"/>
            <a:ext cx="10515600" cy="4114800"/>
          </a:xfrm>
          <a:prstGeom prst="rect">
            <a:avLst/>
          </a:prstGeom>
          <a:noFill/>
        </p:spPr>
        <p:txBody>
          <a:bodyPr wrap="square">
            <a:spAutoFit/>
          </a:bodyPr>
          <a:lstStyle/>
          <a:p>
            <a:pPr>
              <a:defRPr sz="2100">
                <a:solidFill>
                  <a:srgbClr val="EEF4FA"/>
                </a:solidFill>
              </a:defRPr>
            </a:pPr>
            <a:r>
              <a:t>A deterministic Python standard-library script generated 240 SYNTHETIC asset-inventory cases with PHP branch, patch level, claimed vendor backport, verification status and exposure. Two offline rule-based classifiers were evaluated: a version-only heuristic and a version-plus-verified-backport rule. No LLM, OpenVals runtime, RedShield, live PHP server, exploit, WAF, cloud logs, or enterprise data was used.</a:t>
            </a:r>
          </a:p>
        </p:txBody>
      </p:sp>
      <p:sp>
        <p:nvSpPr>
          <p:cNvPr id="4" name="TextBox 3"/>
          <p:cNvSpPr txBox="1"/>
          <p:nvPr/>
        </p:nvSpPr>
        <p:spPr>
          <a:xfrm>
            <a:off x="731520" y="6400800"/>
            <a:ext cx="10607040" cy="274320"/>
          </a:xfrm>
          <a:prstGeom prst="rect">
            <a:avLst/>
          </a:prstGeom>
          <a:noFill/>
        </p:spPr>
        <p:txBody>
          <a:bodyPr wrap="none">
            <a:spAutoFit/>
          </a:bodyPr>
          <a:lstStyle/>
          <a:p>
            <a:pPr>
              <a:defRPr sz="1100">
                <a:solidFill>
                  <a:srgbClr val="92AAC0"/>
                </a:solidFill>
              </a:defRPr>
            </a:pPr>
            <a:r>
              <a:t>OPENVALS × REDSHIELD  |  CASE STUDY 002  |  SYNTHETIC / RULE-BASED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D30"/>
        </a:solidFill>
        <a:effectLst/>
      </p:bgPr>
    </p:bg>
    <p:spTree>
      <p:nvGrpSpPr>
        <p:cNvPr id="1" name=""/>
        <p:cNvGrpSpPr/>
        <p:nvPr/>
      </p:nvGrpSpPr>
      <p:grpSpPr/>
      <p:sp>
        <p:nvSpPr>
          <p:cNvPr id="2" name="TextBox 1"/>
          <p:cNvSpPr txBox="1"/>
          <p:nvPr/>
        </p:nvSpPr>
        <p:spPr>
          <a:xfrm>
            <a:off x="685800" y="502920"/>
            <a:ext cx="10698480" cy="822960"/>
          </a:xfrm>
          <a:prstGeom prst="rect">
            <a:avLst/>
          </a:prstGeom>
          <a:noFill/>
        </p:spPr>
        <p:txBody>
          <a:bodyPr wrap="none">
            <a:spAutoFit/>
          </a:bodyPr>
          <a:lstStyle/>
          <a:p>
            <a:pPr>
              <a:defRPr sz="3100" b="1">
                <a:solidFill>
                  <a:srgbClr val="63D2E3"/>
                </a:solidFill>
              </a:defRPr>
            </a:pPr>
            <a:r>
              <a:t>Measured synthetic benchmark results</a:t>
            </a:r>
          </a:p>
        </p:txBody>
      </p:sp>
      <p:sp>
        <p:nvSpPr>
          <p:cNvPr id="3" name="TextBox 2"/>
          <p:cNvSpPr txBox="1"/>
          <p:nvPr/>
        </p:nvSpPr>
        <p:spPr>
          <a:xfrm>
            <a:off x="731520" y="1645920"/>
            <a:ext cx="10515600" cy="4114800"/>
          </a:xfrm>
          <a:prstGeom prst="rect">
            <a:avLst/>
          </a:prstGeom>
          <a:noFill/>
        </p:spPr>
        <p:txBody>
          <a:bodyPr wrap="square">
            <a:spAutoFit/>
          </a:bodyPr>
          <a:lstStyle/>
          <a:p>
            <a:pPr>
              <a:defRPr sz="2100">
                <a:solidFill>
                  <a:srgbClr val="EEF4FA"/>
                </a:solidFill>
              </a:defRPr>
            </a:pPr>
            <a:r>
              <a:t>Version-only baseline: accuracy 97.08%; action precision 95.98%; action recall 100.00%; false-positive rate 9.59% (TP=167, FP=7, FN=0, TN=66). Verified-backport rule: accuracy 100.00% (TP=167, FP=0, FN=0, TN=73). The 100% score is expected and NOT evidence of model capability: ground truth was constructed using the same logic as the rule.</a:t>
            </a:r>
          </a:p>
        </p:txBody>
      </p:sp>
      <p:sp>
        <p:nvSpPr>
          <p:cNvPr id="4" name="TextBox 3"/>
          <p:cNvSpPr txBox="1"/>
          <p:nvPr/>
        </p:nvSpPr>
        <p:spPr>
          <a:xfrm>
            <a:off x="731520" y="6400800"/>
            <a:ext cx="10607040" cy="274320"/>
          </a:xfrm>
          <a:prstGeom prst="rect">
            <a:avLst/>
          </a:prstGeom>
          <a:noFill/>
        </p:spPr>
        <p:txBody>
          <a:bodyPr wrap="none">
            <a:spAutoFit/>
          </a:bodyPr>
          <a:lstStyle/>
          <a:p>
            <a:pPr>
              <a:defRPr sz="1100">
                <a:solidFill>
                  <a:srgbClr val="92AAC0"/>
                </a:solidFill>
              </a:defRPr>
            </a:pPr>
            <a:r>
              <a:t>OPENVALS × REDSHIELD  |  CASE STUDY 002  |  SYNTHETIC / RULE-BASED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D30"/>
        </a:solidFill>
        <a:effectLst/>
      </p:bgPr>
    </p:bg>
    <p:spTree>
      <p:nvGrpSpPr>
        <p:cNvPr id="1" name=""/>
        <p:cNvGrpSpPr/>
        <p:nvPr/>
      </p:nvGrpSpPr>
      <p:grpSpPr/>
      <p:sp>
        <p:nvSpPr>
          <p:cNvPr id="2" name="TextBox 1"/>
          <p:cNvSpPr txBox="1"/>
          <p:nvPr/>
        </p:nvSpPr>
        <p:spPr>
          <a:xfrm>
            <a:off x="685800" y="502920"/>
            <a:ext cx="10698480" cy="822960"/>
          </a:xfrm>
          <a:prstGeom prst="rect">
            <a:avLst/>
          </a:prstGeom>
          <a:noFill/>
        </p:spPr>
        <p:txBody>
          <a:bodyPr wrap="none">
            <a:spAutoFit/>
          </a:bodyPr>
          <a:lstStyle/>
          <a:p>
            <a:pPr>
              <a:defRPr sz="3100" b="1">
                <a:solidFill>
                  <a:srgbClr val="63D2E3"/>
                </a:solidFill>
              </a:defRPr>
            </a:pPr>
            <a:r>
              <a:t>Interpretation</a:t>
            </a:r>
          </a:p>
        </p:txBody>
      </p:sp>
      <p:sp>
        <p:nvSpPr>
          <p:cNvPr id="3" name="TextBox 2"/>
          <p:cNvSpPr txBox="1"/>
          <p:nvPr/>
        </p:nvSpPr>
        <p:spPr>
          <a:xfrm>
            <a:off x="731520" y="1645920"/>
            <a:ext cx="10515600" cy="4114800"/>
          </a:xfrm>
          <a:prstGeom prst="rect">
            <a:avLst/>
          </a:prstGeom>
          <a:noFill/>
        </p:spPr>
        <p:txBody>
          <a:bodyPr wrap="square">
            <a:spAutoFit/>
          </a:bodyPr>
          <a:lstStyle/>
          <a:p>
            <a:pPr>
              <a:defRPr sz="2100">
                <a:solidFill>
                  <a:srgbClr val="EEF4FA"/>
                </a:solidFill>
              </a:defRPr>
            </a:pPr>
            <a:r>
              <a:t>In this toy benchmark, ignoring vendor backports produces 7 unnecessary remediation alerts out of 73 truly patched cases. Requiring verifiable patch evidence avoids those errors by construction. This illustrates why vulnerability triage must distinguish version strings, backported security fixes, and unverifiable vendor claims. It does not measure vulnerability detection or incident response.</a:t>
            </a:r>
          </a:p>
        </p:txBody>
      </p:sp>
      <p:sp>
        <p:nvSpPr>
          <p:cNvPr id="4" name="TextBox 3"/>
          <p:cNvSpPr txBox="1"/>
          <p:nvPr/>
        </p:nvSpPr>
        <p:spPr>
          <a:xfrm>
            <a:off x="731520" y="6400800"/>
            <a:ext cx="10607040" cy="274320"/>
          </a:xfrm>
          <a:prstGeom prst="rect">
            <a:avLst/>
          </a:prstGeom>
          <a:noFill/>
        </p:spPr>
        <p:txBody>
          <a:bodyPr wrap="none">
            <a:spAutoFit/>
          </a:bodyPr>
          <a:lstStyle/>
          <a:p>
            <a:pPr>
              <a:defRPr sz="1100">
                <a:solidFill>
                  <a:srgbClr val="92AAC0"/>
                </a:solidFill>
              </a:defRPr>
            </a:pPr>
            <a:r>
              <a:t>OPENVALS × REDSHIELD  |  CASE STUDY 002  |  SYNTHETIC / RULE-BASED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D30"/>
        </a:solidFill>
        <a:effectLst/>
      </p:bgPr>
    </p:bg>
    <p:spTree>
      <p:nvGrpSpPr>
        <p:cNvPr id="1" name=""/>
        <p:cNvGrpSpPr/>
        <p:nvPr/>
      </p:nvGrpSpPr>
      <p:grpSpPr/>
      <p:sp>
        <p:nvSpPr>
          <p:cNvPr id="2" name="TextBox 1"/>
          <p:cNvSpPr txBox="1"/>
          <p:nvPr/>
        </p:nvSpPr>
        <p:spPr>
          <a:xfrm>
            <a:off x="685800" y="502920"/>
            <a:ext cx="10698480" cy="822960"/>
          </a:xfrm>
          <a:prstGeom prst="rect">
            <a:avLst/>
          </a:prstGeom>
          <a:noFill/>
        </p:spPr>
        <p:txBody>
          <a:bodyPr wrap="none">
            <a:spAutoFit/>
          </a:bodyPr>
          <a:lstStyle/>
          <a:p>
            <a:pPr>
              <a:defRPr sz="3100" b="1">
                <a:solidFill>
                  <a:srgbClr val="63D2E3"/>
                </a:solidFill>
              </a:defRPr>
            </a:pPr>
            <a:r>
              <a:t>Independent assurance framework</a:t>
            </a:r>
          </a:p>
        </p:txBody>
      </p:sp>
      <p:sp>
        <p:nvSpPr>
          <p:cNvPr id="3" name="TextBox 2"/>
          <p:cNvSpPr txBox="1"/>
          <p:nvPr/>
        </p:nvSpPr>
        <p:spPr>
          <a:xfrm>
            <a:off x="731520" y="1645920"/>
            <a:ext cx="10515600" cy="4114800"/>
          </a:xfrm>
          <a:prstGeom prst="rect">
            <a:avLst/>
          </a:prstGeom>
          <a:noFill/>
        </p:spPr>
        <p:txBody>
          <a:bodyPr wrap="square">
            <a:spAutoFit/>
          </a:bodyPr>
          <a:lstStyle/>
          <a:p>
            <a:pPr>
              <a:defRPr sz="2100">
                <a:solidFill>
                  <a:srgbClr val="EEF4FA"/>
                </a:solidFill>
              </a:defRPr>
            </a:pPr>
            <a:r>
              <a:t>Gate 1: provenance and asset context; Gate 2: independently labelled vulnerabilities and benign controls; Gate 3: accuracy and false-negative testing across PHP versions, SAPIs and configurations; Gate 4: evidence-grounded remediation and rollback safety; Gate 5: repeatability, calibration and drift; Gate 6: approval, audit trail and incident review. For LLM judges, blind model identity and order, score against experts, and explicitly measure abstention.</a:t>
            </a:r>
          </a:p>
        </p:txBody>
      </p:sp>
      <p:sp>
        <p:nvSpPr>
          <p:cNvPr id="4" name="TextBox 3"/>
          <p:cNvSpPr txBox="1"/>
          <p:nvPr/>
        </p:nvSpPr>
        <p:spPr>
          <a:xfrm>
            <a:off x="731520" y="6400800"/>
            <a:ext cx="10607040" cy="274320"/>
          </a:xfrm>
          <a:prstGeom prst="rect">
            <a:avLst/>
          </a:prstGeom>
          <a:noFill/>
        </p:spPr>
        <p:txBody>
          <a:bodyPr wrap="none">
            <a:spAutoFit/>
          </a:bodyPr>
          <a:lstStyle/>
          <a:p>
            <a:pPr>
              <a:defRPr sz="1100">
                <a:solidFill>
                  <a:srgbClr val="92AAC0"/>
                </a:solidFill>
              </a:defRPr>
            </a:pPr>
            <a:r>
              <a:t>OPENVALS × REDSHIELD  |  CASE STUDY 002  |  SYNTHETIC / RULE-BASED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C1D30"/>
        </a:solidFill>
        <a:effectLst/>
      </p:bgPr>
    </p:bg>
    <p:spTree>
      <p:nvGrpSpPr>
        <p:cNvPr id="1" name=""/>
        <p:cNvGrpSpPr/>
        <p:nvPr/>
      </p:nvGrpSpPr>
      <p:grpSpPr/>
      <p:sp>
        <p:nvSpPr>
          <p:cNvPr id="2" name="TextBox 1"/>
          <p:cNvSpPr txBox="1"/>
          <p:nvPr/>
        </p:nvSpPr>
        <p:spPr>
          <a:xfrm>
            <a:off x="685800" y="502920"/>
            <a:ext cx="10698480" cy="822960"/>
          </a:xfrm>
          <a:prstGeom prst="rect">
            <a:avLst/>
          </a:prstGeom>
          <a:noFill/>
        </p:spPr>
        <p:txBody>
          <a:bodyPr wrap="none">
            <a:spAutoFit/>
          </a:bodyPr>
          <a:lstStyle/>
          <a:p>
            <a:pPr>
              <a:defRPr sz="3100" b="1">
                <a:solidFill>
                  <a:srgbClr val="63D2E3"/>
                </a:solidFill>
              </a:defRPr>
            </a:pPr>
            <a:r>
              <a:t>Research design for a real pilot</a:t>
            </a:r>
          </a:p>
        </p:txBody>
      </p:sp>
      <p:sp>
        <p:nvSpPr>
          <p:cNvPr id="3" name="TextBox 2"/>
          <p:cNvSpPr txBox="1"/>
          <p:nvPr/>
        </p:nvSpPr>
        <p:spPr>
          <a:xfrm>
            <a:off x="731520" y="1645920"/>
            <a:ext cx="10515600" cy="4114800"/>
          </a:xfrm>
          <a:prstGeom prst="rect">
            <a:avLst/>
          </a:prstGeom>
          <a:noFill/>
        </p:spPr>
        <p:txBody>
          <a:bodyPr wrap="square">
            <a:spAutoFit/>
          </a:bodyPr>
          <a:lstStyle/>
          <a:p>
            <a:pPr>
              <a:defRPr sz="2100">
                <a:solidFill>
                  <a:srgbClr val="EEF4FA"/>
                </a:solidFill>
              </a:defRPr>
            </a:pPr>
            <a:r>
              <a:t>Create 300+ independently adjudicated scenarios drawn from authorized lab builds, benign synthetic logs, vendor advisories and incident-response playbooks. Split development and holdout sets by scenario family; preregister thresholds. Compare (a) deterministic rules, (b) security analyst decisions, (c) LLM-assisted workflows, and (d) an OpenVals evaluation integration once actually implemented. Record precision, recall, FNR, FPR, Brier/calibration, time to verified answer, hallucinated fixes, and human escalation. RedShield testing should remain defensive and isol</a:t>
            </a:r>
          </a:p>
        </p:txBody>
      </p:sp>
      <p:sp>
        <p:nvSpPr>
          <p:cNvPr id="4" name="TextBox 3"/>
          <p:cNvSpPr txBox="1"/>
          <p:nvPr/>
        </p:nvSpPr>
        <p:spPr>
          <a:xfrm>
            <a:off x="731520" y="6400800"/>
            <a:ext cx="10607040" cy="274320"/>
          </a:xfrm>
          <a:prstGeom prst="rect">
            <a:avLst/>
          </a:prstGeom>
          <a:noFill/>
        </p:spPr>
        <p:txBody>
          <a:bodyPr wrap="none">
            <a:spAutoFit/>
          </a:bodyPr>
          <a:lstStyle/>
          <a:p>
            <a:pPr>
              <a:defRPr sz="1100">
                <a:solidFill>
                  <a:srgbClr val="92AAC0"/>
                </a:solidFill>
              </a:defRPr>
            </a:pPr>
            <a:r>
              <a:t>OPENVALS × REDSHIELD  |  CASE STUDY 002  |  SYNTHETIC / RULE-BASED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C1D30"/>
        </a:solidFill>
        <a:effectLst/>
      </p:bgPr>
    </p:bg>
    <p:spTree>
      <p:nvGrpSpPr>
        <p:cNvPr id="1" name=""/>
        <p:cNvGrpSpPr/>
        <p:nvPr/>
      </p:nvGrpSpPr>
      <p:grpSpPr/>
      <p:sp>
        <p:nvSpPr>
          <p:cNvPr id="2" name="TextBox 1"/>
          <p:cNvSpPr txBox="1"/>
          <p:nvPr/>
        </p:nvSpPr>
        <p:spPr>
          <a:xfrm>
            <a:off x="685800" y="502920"/>
            <a:ext cx="10698480" cy="822960"/>
          </a:xfrm>
          <a:prstGeom prst="rect">
            <a:avLst/>
          </a:prstGeom>
          <a:noFill/>
        </p:spPr>
        <p:txBody>
          <a:bodyPr wrap="none">
            <a:spAutoFit/>
          </a:bodyPr>
          <a:lstStyle/>
          <a:p>
            <a:pPr>
              <a:defRPr sz="3100" b="1">
                <a:solidFill>
                  <a:srgbClr val="63D2E3"/>
                </a:solidFill>
              </a:defRPr>
            </a:pPr>
            <a:r>
              <a:t>Publication guardrails</a:t>
            </a:r>
          </a:p>
        </p:txBody>
      </p:sp>
      <p:sp>
        <p:nvSpPr>
          <p:cNvPr id="3" name="TextBox 2"/>
          <p:cNvSpPr txBox="1"/>
          <p:nvPr/>
        </p:nvSpPr>
        <p:spPr>
          <a:xfrm>
            <a:off x="731520" y="1645920"/>
            <a:ext cx="10515600" cy="4114800"/>
          </a:xfrm>
          <a:prstGeom prst="rect">
            <a:avLst/>
          </a:prstGeom>
          <a:noFill/>
        </p:spPr>
        <p:txBody>
          <a:bodyPr wrap="square">
            <a:spAutoFit/>
          </a:bodyPr>
          <a:lstStyle/>
          <a:p>
            <a:pPr>
              <a:defRPr sz="2100">
                <a:solidFill>
                  <a:srgbClr val="EEF4FA"/>
                </a:solidFill>
              </a:defRPr>
            </a:pPr>
            <a:r>
              <a:t>Publish the synthetic numbers only with the label SYNTHETIC / RULE-BASED DEMONSTRATION. Never describe them as live PHP2Shell detection, OpenVals product accuracy, RedShield exploit testing, AI-model performance, or independent proof of enterprise readiness. The 240 cases are generated and not a random sample of real assets. The labels are circular relative to the verified-backport rule.</a:t>
            </a:r>
          </a:p>
        </p:txBody>
      </p:sp>
      <p:sp>
        <p:nvSpPr>
          <p:cNvPr id="4" name="TextBox 3"/>
          <p:cNvSpPr txBox="1"/>
          <p:nvPr/>
        </p:nvSpPr>
        <p:spPr>
          <a:xfrm>
            <a:off x="731520" y="6400800"/>
            <a:ext cx="10607040" cy="274320"/>
          </a:xfrm>
          <a:prstGeom prst="rect">
            <a:avLst/>
          </a:prstGeom>
          <a:noFill/>
        </p:spPr>
        <p:txBody>
          <a:bodyPr wrap="none">
            <a:spAutoFit/>
          </a:bodyPr>
          <a:lstStyle/>
          <a:p>
            <a:pPr>
              <a:defRPr sz="1100">
                <a:solidFill>
                  <a:srgbClr val="92AAC0"/>
                </a:solidFill>
              </a:defRPr>
            </a:pPr>
            <a:r>
              <a:t>OPENVALS × REDSHIELD  |  CASE STUDY 002  |  SYNTHETIC / RULE-BASED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C1D30"/>
        </a:solidFill>
        <a:effectLst/>
      </p:bgPr>
    </p:bg>
    <p:spTree>
      <p:nvGrpSpPr>
        <p:cNvPr id="1" name=""/>
        <p:cNvGrpSpPr/>
        <p:nvPr/>
      </p:nvGrpSpPr>
      <p:grpSpPr/>
      <p:sp>
        <p:nvSpPr>
          <p:cNvPr id="2" name="TextBox 1"/>
          <p:cNvSpPr txBox="1"/>
          <p:nvPr/>
        </p:nvSpPr>
        <p:spPr>
          <a:xfrm>
            <a:off x="685800" y="502920"/>
            <a:ext cx="10698480" cy="822960"/>
          </a:xfrm>
          <a:prstGeom prst="rect">
            <a:avLst/>
          </a:prstGeom>
          <a:noFill/>
        </p:spPr>
        <p:txBody>
          <a:bodyPr wrap="none">
            <a:spAutoFit/>
          </a:bodyPr>
          <a:lstStyle/>
          <a:p>
            <a:pPr>
              <a:defRPr sz="3100" b="1">
                <a:solidFill>
                  <a:srgbClr val="63D2E3"/>
                </a:solidFill>
              </a:defRPr>
            </a:pPr>
            <a:r>
              <a:t>Actionable enterprise guidance</a:t>
            </a:r>
          </a:p>
        </p:txBody>
      </p:sp>
      <p:sp>
        <p:nvSpPr>
          <p:cNvPr id="3" name="TextBox 2"/>
          <p:cNvSpPr txBox="1"/>
          <p:nvPr/>
        </p:nvSpPr>
        <p:spPr>
          <a:xfrm>
            <a:off x="731520" y="1645920"/>
            <a:ext cx="10515600" cy="4114800"/>
          </a:xfrm>
          <a:prstGeom prst="rect">
            <a:avLst/>
          </a:prstGeom>
          <a:noFill/>
        </p:spPr>
        <p:txBody>
          <a:bodyPr wrap="square">
            <a:spAutoFit/>
          </a:bodyPr>
          <a:lstStyle/>
          <a:p>
            <a:pPr>
              <a:defRPr sz="2100">
                <a:solidFill>
                  <a:srgbClr val="EEF4FA"/>
                </a:solidFill>
              </a:defRPr>
            </a:pPr>
            <a:r>
              <a:t>Patch PHP using vendor-supported packages, check backported package advisories and restart affected workers. Prioritize exposed services and review anomalous PHP worker failures and unusual request patterns. WAF controls are supplementary, not a replacement for the PHP security update. Do not treat an unverified backport claim as evidence of remediation.</a:t>
            </a:r>
          </a:p>
        </p:txBody>
      </p:sp>
      <p:sp>
        <p:nvSpPr>
          <p:cNvPr id="4" name="TextBox 3"/>
          <p:cNvSpPr txBox="1"/>
          <p:nvPr/>
        </p:nvSpPr>
        <p:spPr>
          <a:xfrm>
            <a:off x="731520" y="6400800"/>
            <a:ext cx="10607040" cy="274320"/>
          </a:xfrm>
          <a:prstGeom prst="rect">
            <a:avLst/>
          </a:prstGeom>
          <a:noFill/>
        </p:spPr>
        <p:txBody>
          <a:bodyPr wrap="none">
            <a:spAutoFit/>
          </a:bodyPr>
          <a:lstStyle/>
          <a:p>
            <a:pPr>
              <a:defRPr sz="1100">
                <a:solidFill>
                  <a:srgbClr val="92AAC0"/>
                </a:solidFill>
              </a:defRPr>
            </a:pPr>
            <a:r>
              <a:t>OPENVALS × REDSHIELD  |  CASE STUDY 002  |  SYNTHETIC / RULE-BASED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C1D30"/>
        </a:solidFill>
        <a:effectLst/>
      </p:bgPr>
    </p:bg>
    <p:spTree>
      <p:nvGrpSpPr>
        <p:cNvPr id="1" name=""/>
        <p:cNvGrpSpPr/>
        <p:nvPr/>
      </p:nvGrpSpPr>
      <p:grpSpPr/>
      <p:sp>
        <p:nvSpPr>
          <p:cNvPr id="2" name="TextBox 1"/>
          <p:cNvSpPr txBox="1"/>
          <p:nvPr/>
        </p:nvSpPr>
        <p:spPr>
          <a:xfrm>
            <a:off x="685800" y="502920"/>
            <a:ext cx="10698480" cy="822960"/>
          </a:xfrm>
          <a:prstGeom prst="rect">
            <a:avLst/>
          </a:prstGeom>
          <a:noFill/>
        </p:spPr>
        <p:txBody>
          <a:bodyPr wrap="none">
            <a:spAutoFit/>
          </a:bodyPr>
          <a:lstStyle/>
          <a:p>
            <a:pPr>
              <a:defRPr sz="3100" b="1">
                <a:solidFill>
                  <a:srgbClr val="63D2E3"/>
                </a:solidFill>
              </a:defRPr>
            </a:pPr>
            <a:r>
              <a:t>Evidence, not product claims</a:t>
            </a:r>
          </a:p>
        </p:txBody>
      </p:sp>
      <p:sp>
        <p:nvSpPr>
          <p:cNvPr id="3" name="TextBox 2"/>
          <p:cNvSpPr txBox="1"/>
          <p:nvPr/>
        </p:nvSpPr>
        <p:spPr>
          <a:xfrm>
            <a:off x="731520" y="1645920"/>
            <a:ext cx="10515600" cy="4114800"/>
          </a:xfrm>
          <a:prstGeom prst="rect">
            <a:avLst/>
          </a:prstGeom>
          <a:noFill/>
        </p:spPr>
        <p:txBody>
          <a:bodyPr wrap="square">
            <a:spAutoFit/>
          </a:bodyPr>
          <a:lstStyle/>
          <a:p>
            <a:pPr>
              <a:defRPr sz="2100">
                <a:solidFill>
                  <a:srgbClr val="EEF4FA"/>
                </a:solidFill>
              </a:defRPr>
            </a:pPr>
            <a:r>
              <a:t>240 generated cases. Naive heuristic: 97.08% accuracy, 7 false alerts. Evidence-aware rule: 100% accuracy by construction.</a:t>
            </a:r>
            <a:br/>
            <a:r>
              <a:t>These are synthetic rule-based outcomes, NOT OpenVals or RedShield performance results.</a:t>
            </a:r>
          </a:p>
        </p:txBody>
      </p:sp>
      <p:sp>
        <p:nvSpPr>
          <p:cNvPr id="4" name="TextBox 3"/>
          <p:cNvSpPr txBox="1"/>
          <p:nvPr/>
        </p:nvSpPr>
        <p:spPr>
          <a:xfrm>
            <a:off x="731520" y="6400800"/>
            <a:ext cx="10607040" cy="274320"/>
          </a:xfrm>
          <a:prstGeom prst="rect">
            <a:avLst/>
          </a:prstGeom>
          <a:noFill/>
        </p:spPr>
        <p:txBody>
          <a:bodyPr wrap="none">
            <a:spAutoFit/>
          </a:bodyPr>
          <a:lstStyle/>
          <a:p>
            <a:pPr>
              <a:defRPr sz="1100">
                <a:solidFill>
                  <a:srgbClr val="92AAC0"/>
                </a:solidFill>
              </a:defRPr>
            </a:pPr>
            <a:r>
              <a:t>OPENVALS × REDSHIELD  |  CASE STUDY 002  |  SYNTHETIC / RULE-BASED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